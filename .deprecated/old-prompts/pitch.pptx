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5156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5156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58368" y="23957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   ·   TECHNICAL STRATEGY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" y="2743200"/>
            <a:ext cx="109728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Dedicated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MiFID III Environment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58368" y="46177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our proven MiFID II (TROY) platform — reuse what works, isolate what changes.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76656" y="5532120"/>
            <a:ext cx="3108960" cy="0"/>
          </a:xfrm>
          <a:prstGeom prst="line">
            <a:avLst/>
          </a:prstGeom>
          <a:noFill/>
          <a:ln w="19050">
            <a:solidFill>
              <a:srgbClr val="F6C9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B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Working Group   ·   Prepared for senior review &amp; sign-off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proposal in brief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7208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128016" cy="2331720"/>
          </a:xfrm>
          <a:prstGeom prst="roundRect">
            <a:avLst>
              <a:gd name="adj" fmla="val 35714"/>
            </a:avLst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5564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6172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dedicated MiFID III reporting environment, </a:t>
            </a:r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copying the proven MiFID II platform. We re-use validated infrastructure, put </a:t>
            </a:r>
            <a:pPr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— including unchanged ones — </a:t>
            </a:r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A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 JIRA and a logic review, and isolate FCA / ESMA divergence to the gateway layer.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98080" y="1554480"/>
            <a:ext cx="4114800" cy="2331720"/>
          </a:xfrm>
          <a:prstGeom prst="roundRect">
            <a:avLst>
              <a:gd name="adj" fmla="val 3922"/>
            </a:avLst>
          </a:prstGeom>
          <a:solidFill>
            <a:srgbClr val="C8102E"/>
          </a:solidFill>
          <a:ln/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0" y="17556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pic>
        <p:nvPicPr>
          <p:cNvPr id="10" name="Image 0" descr="/home/claude/deck/ic_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17627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01584" y="214884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over rebuild — proven logic carried forward</a:t>
            </a:r>
            <a:endParaRPr lang="en-US" sz="1200" dirty="0"/>
          </a:p>
        </p:txBody>
      </p:sp>
      <p:pic>
        <p:nvPicPr>
          <p:cNvPr id="12" name="Image 1" descr="/home/claude/deck/ic_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74320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01584" y="271576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traceable to a JIRA + review</a:t>
            </a:r>
            <a:endParaRPr lang="en-US" sz="1200" dirty="0"/>
          </a:p>
        </p:txBody>
      </p:sp>
      <p:pic>
        <p:nvPicPr>
          <p:cNvPr id="14" name="Image 2" descr="/home/claude/deck/ic_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31012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01584" y="328269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ESMA changes can't regress FCA, and vice-versa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25196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2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85800" y="44348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8" name="Text 13"/>
          <p:cNvSpPr/>
          <p:nvPr/>
        </p:nvSpPr>
        <p:spPr>
          <a:xfrm>
            <a:off x="731520" y="523036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regimes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31520" y="561441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· BaFin/ESMA · FinFCA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346704" y="425196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2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3483864" y="44348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22" name="Text 17"/>
          <p:cNvSpPr/>
          <p:nvPr/>
        </p:nvSpPr>
        <p:spPr>
          <a:xfrm>
            <a:off x="3529584" y="523036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groups reused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3529584" y="561441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copied from MiFID II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144768" y="425196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22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6281928" y="44348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26" name="Text 21"/>
          <p:cNvSpPr/>
          <p:nvPr/>
        </p:nvSpPr>
        <p:spPr>
          <a:xfrm>
            <a:off x="6327648" y="523036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traceability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327648" y="561441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→ JIRA + review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8942832" y="425196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22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9079992" y="44348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30" name="Text 25"/>
          <p:cNvSpPr/>
          <p:nvPr/>
        </p:nvSpPr>
        <p:spPr>
          <a:xfrm>
            <a:off x="9125712" y="523036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phases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9125712" y="561441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controlled, staged cutover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III  ·  Dedicated Reporting Environment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CONTEXT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 — and why dedicated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38528"/>
            <a:ext cx="841248" cy="84124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/home/claude/deck/ic_sca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14884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88366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Regimes are diverging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65960" y="2414016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and ESMA are drifting apart under MiFID III. A shared codebase forces compromises that serve neither regime well.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572768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938528"/>
            <a:ext cx="841248" cy="84124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1" name="Image 1" descr="/home/claude/deck/ic_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2148840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188366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hold a proven asset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589520" y="2414016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TROY already runs eligibility, enrichment, multi-jurisdiction gateways and ISO 20022 submission to UnaVista.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813048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178808"/>
            <a:ext cx="841248" cy="841248"/>
          </a:xfrm>
          <a:prstGeom prst="ellipse">
            <a:avLst/>
          </a:prstGeom>
          <a:solidFill>
            <a:srgbClr val="2F7D4F"/>
          </a:solidFill>
          <a:ln/>
        </p:spPr>
      </p:sp>
      <p:pic>
        <p:nvPicPr>
          <p:cNvPr id="16" name="Image 2" descr="/home/claude/deck/ic_recy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389120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12394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is the fast path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965960" y="4654296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plumbing carries over untouched. We copy proven infrastructure and only re-examine what genuinely changes.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813048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178808"/>
            <a:ext cx="841248" cy="84124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1" name="Image 3" descr="/home/claude/deck/ic_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4389120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123944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de-risks both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589520" y="4654296"/>
            <a:ext cx="37947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environment means a change for one regulator can never destabilise reporting for the other.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III  ·  Dedicated Reporting Environment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9E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713232" y="3703320"/>
            <a:ext cx="3108960" cy="0"/>
          </a:xfrm>
          <a:prstGeom prst="line">
            <a:avLst/>
          </a:prstGeom>
          <a:noFill/>
          <a:ln w="19050">
            <a:solidFill>
              <a:srgbClr val="F6C9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76656" y="5029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proven platform. Re-examine only what changes. Isolate divergence.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B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III  ·  Dedicated Reporting Environment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B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mirror of the proven MiFID II flow</a:t>
            </a:r>
            <a:endParaRPr lang="en-US" sz="3000" dirty="0"/>
          </a:p>
        </p:txBody>
      </p:sp>
      <p:pic>
        <p:nvPicPr>
          <p:cNvPr id="4" name="Image 0" descr="/home/claude/deck/deck_arch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07492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664208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656832" y="1984248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7" name="Image 1" descr="/home/claude/deck/ic_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139696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0" y="184708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&amp; Enrichment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498080" y="2231136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field enrichment plus the eligibility decision across FCA / BaFin / FIN. Writes an audit for every trade.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400800" y="3127248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656832" y="3447288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2" name="Image 2" descr="/home/claude/deck/ic_lay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602736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98080" y="33101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 Gateways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7498080" y="3694176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Regime-specific enrichment, overriding and any additional logic required per regulator.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0" y="4590288"/>
            <a:ext cx="5212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656832" y="4910328"/>
            <a:ext cx="640080" cy="640080"/>
          </a:xfrm>
          <a:prstGeom prst="ellipse">
            <a:avLst/>
          </a:prstGeom>
          <a:solidFill>
            <a:srgbClr val="2F7D4F"/>
          </a:solidFill>
          <a:ln/>
        </p:spPr>
      </p:sp>
      <p:pic>
        <p:nvPicPr>
          <p:cNvPr id="17" name="Image 3" descr="/home/claude/deck/ic_bol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5065776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98080" y="47731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Engines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7498080" y="5157216"/>
            <a:ext cx="3977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 submission — one engine per regime, all targeting UnaVista.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III  ·  Dedicated Reporting Environment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REUSE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the proven infrastructure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457200"/>
            <a:ext cx="1051560" cy="1051560"/>
          </a:xfrm>
          <a:prstGeom prst="ellipse">
            <a:avLst/>
          </a:prstGeom>
          <a:solidFill>
            <a:srgbClr val="2F7D4F"/>
          </a:solidFill>
          <a:ln/>
        </p:spPr>
      </p:sp>
      <p:pic>
        <p:nvPicPr>
          <p:cNvPr id="5" name="Image 0" descr="/home/claude/deck/ic_recy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713232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3716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MiFID II components that carry into the new environment unchanged or near-unchanged.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194560"/>
                <a:gridCol w="54864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ingestion from TRSE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45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feed is identical across regimes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&amp; eligibility engine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+ extend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45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logic reused; rules reviewed per regime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field enrichment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45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Jurisdiction-agnostic — LEI, ISIN/UPI, UTI, counterparty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framework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45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shape; regime rules layered on 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20022 submission engine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45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UnaVista target and message 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handling &amp; audit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45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Eligibility-audit &amp; transaction model reused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4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III  ·  Dedicated Reporting Environment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THE GOVERNING DISCIPLINE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handle unchanged fields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that has NOT changed still passes through a disciplined review — reuse is deliberate, never assumed.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2606040" cy="548640"/>
          </a:xfrm>
          <a:prstGeom prst="roundRect">
            <a:avLst>
              <a:gd name="adj" fmla="val 20000"/>
            </a:avLst>
          </a:prstGeom>
          <a:solidFill>
            <a:srgbClr val="C8102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67128"/>
            <a:ext cx="2606040" cy="2560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745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63040" y="2697480"/>
            <a:ext cx="777240" cy="7772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0" name="Image 0" descr="/home/claude/deck/ic_jira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08" y="2889504"/>
            <a:ext cx="374904" cy="3749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3566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a JIRA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9808" y="42062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JIRA for the field even though it hasn't changed — so the work is tracked and auditable.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099816" y="2880360"/>
            <a:ext cx="347472" cy="438912"/>
          </a:xfrm>
          <a:prstGeom prst="chevron">
            <a:avLst/>
          </a:prstGeom>
          <a:solidFill>
            <a:srgbClr val="C9CFDE"/>
          </a:solidFill>
          <a:ln/>
        </p:spPr>
      </p:sp>
      <p:sp>
        <p:nvSpPr>
          <p:cNvPr id="14" name="Shape 11"/>
          <p:cNvSpPr/>
          <p:nvPr/>
        </p:nvSpPr>
        <p:spPr>
          <a:xfrm>
            <a:off x="3401568" y="18745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01568" y="1874520"/>
            <a:ext cx="2606040" cy="548640"/>
          </a:xfrm>
          <a:prstGeom prst="roundRect">
            <a:avLst>
              <a:gd name="adj" fmla="val 20000"/>
            </a:avLst>
          </a:prstGeom>
          <a:solidFill>
            <a:srgbClr val="8B0E22"/>
          </a:solidFill>
          <a:ln/>
        </p:spPr>
      </p:sp>
      <p:sp>
        <p:nvSpPr>
          <p:cNvPr id="16" name="Shape 13"/>
          <p:cNvSpPr/>
          <p:nvPr/>
        </p:nvSpPr>
        <p:spPr>
          <a:xfrm>
            <a:off x="3401568" y="2167128"/>
            <a:ext cx="2606040" cy="256032"/>
          </a:xfrm>
          <a:prstGeom prst="rect">
            <a:avLst/>
          </a:prstGeom>
          <a:solidFill>
            <a:srgbClr val="8B0E22"/>
          </a:solidFill>
          <a:ln/>
        </p:spPr>
      </p:sp>
      <p:sp>
        <p:nvSpPr>
          <p:cNvPr id="17" name="Text 14"/>
          <p:cNvSpPr/>
          <p:nvPr/>
        </p:nvSpPr>
        <p:spPr>
          <a:xfrm>
            <a:off x="3401568" y="18745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15968" y="2697480"/>
            <a:ext cx="777240" cy="7772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9" name="Image 1" descr="/home/claude/deck/ic_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2889504"/>
            <a:ext cx="374904" cy="37490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538728" y="3566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8B0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existing logic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602736" y="42062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existing MiFID II logic and confirm it still meets the MiFID III requirement.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952744" y="2880360"/>
            <a:ext cx="347472" cy="438912"/>
          </a:xfrm>
          <a:prstGeom prst="chevron">
            <a:avLst/>
          </a:prstGeom>
          <a:solidFill>
            <a:srgbClr val="C9CFDE"/>
          </a:solidFill>
          <a:ln/>
        </p:spPr>
      </p:sp>
      <p:sp>
        <p:nvSpPr>
          <p:cNvPr id="23" name="Shape 19"/>
          <p:cNvSpPr/>
          <p:nvPr/>
        </p:nvSpPr>
        <p:spPr>
          <a:xfrm>
            <a:off x="6254496" y="18745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254496" y="1874520"/>
            <a:ext cx="2606040" cy="548640"/>
          </a:xfrm>
          <a:prstGeom prst="roundRect">
            <a:avLst>
              <a:gd name="adj" fmla="val 20000"/>
            </a:avLst>
          </a:prstGeom>
          <a:solidFill>
            <a:srgbClr val="2F7D4F"/>
          </a:solidFill>
          <a:ln/>
        </p:spPr>
      </p:sp>
      <p:sp>
        <p:nvSpPr>
          <p:cNvPr id="25" name="Shape 21"/>
          <p:cNvSpPr/>
          <p:nvPr/>
        </p:nvSpPr>
        <p:spPr>
          <a:xfrm>
            <a:off x="6254496" y="2167128"/>
            <a:ext cx="2606040" cy="256032"/>
          </a:xfrm>
          <a:prstGeom prst="rect">
            <a:avLst/>
          </a:prstGeom>
          <a:solidFill>
            <a:srgbClr val="2F7D4F"/>
          </a:solidFill>
          <a:ln/>
        </p:spPr>
      </p:sp>
      <p:sp>
        <p:nvSpPr>
          <p:cNvPr id="26" name="Text 22"/>
          <p:cNvSpPr/>
          <p:nvPr/>
        </p:nvSpPr>
        <p:spPr>
          <a:xfrm>
            <a:off x="6254496" y="18745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7168896" y="2697480"/>
            <a:ext cx="777240" cy="7772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8" name="Image 2" descr="/home/claude/deck/ic_cop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064" y="2889504"/>
            <a:ext cx="374904" cy="37490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391656" y="3566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by reference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6455664" y="42062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same behaviour by referring to the existing logic — no reinvention.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8805672" y="2880360"/>
            <a:ext cx="347472" cy="438912"/>
          </a:xfrm>
          <a:prstGeom prst="chevron">
            <a:avLst/>
          </a:prstGeom>
          <a:solidFill>
            <a:srgbClr val="C9CFDE"/>
          </a:solidFill>
          <a:ln/>
        </p:spPr>
      </p:sp>
      <p:sp>
        <p:nvSpPr>
          <p:cNvPr id="32" name="Shape 27"/>
          <p:cNvSpPr/>
          <p:nvPr/>
        </p:nvSpPr>
        <p:spPr>
          <a:xfrm>
            <a:off x="9107424" y="187452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107424" y="1874520"/>
            <a:ext cx="2606040" cy="548640"/>
          </a:xfrm>
          <a:prstGeom prst="roundRect">
            <a:avLst>
              <a:gd name="adj" fmla="val 20000"/>
            </a:avLst>
          </a:prstGeom>
          <a:solidFill>
            <a:srgbClr val="A50E26"/>
          </a:solidFill>
          <a:ln/>
        </p:spPr>
      </p:sp>
      <p:sp>
        <p:nvSpPr>
          <p:cNvPr id="34" name="Shape 29"/>
          <p:cNvSpPr/>
          <p:nvPr/>
        </p:nvSpPr>
        <p:spPr>
          <a:xfrm>
            <a:off x="9107424" y="2167128"/>
            <a:ext cx="2606040" cy="256032"/>
          </a:xfrm>
          <a:prstGeom prst="rect">
            <a:avLst/>
          </a:prstGeom>
          <a:solidFill>
            <a:srgbClr val="A50E26"/>
          </a:solidFill>
          <a:ln/>
        </p:spPr>
      </p:sp>
      <p:sp>
        <p:nvSpPr>
          <p:cNvPr id="35" name="Text 30"/>
          <p:cNvSpPr/>
          <p:nvPr/>
        </p:nvSpPr>
        <p:spPr>
          <a:xfrm>
            <a:off x="9107424" y="18745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10021824" y="2697480"/>
            <a:ext cx="777240" cy="7772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7" name="Image 3" descr="/home/claude/deck/ic_wren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992" y="2889504"/>
            <a:ext cx="374904" cy="37490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244584" y="35661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A50E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only if needed</a:t>
            </a:r>
            <a:endParaRPr lang="en-US" sz="1600" dirty="0"/>
          </a:p>
        </p:txBody>
      </p:sp>
      <p:sp>
        <p:nvSpPr>
          <p:cNvPr id="39" name="Text 33"/>
          <p:cNvSpPr/>
          <p:nvPr/>
        </p:nvSpPr>
        <p:spPr>
          <a:xfrm>
            <a:off x="9308592" y="42062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where the review finds it lacking do we enhance — otherwise carry it over as-is.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548640" y="539496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C8102E"/>
          </a:solidFill>
          <a:ln/>
          <a:effectLst>
            <a:outerShdw sx="100000" sy="100000" kx="0" ky="0" algn="bl" rotWithShape="0" blurRad="114300" dist="50800" dir="5400000">
              <a:srgbClr val="8494BE">
                <a:alpha val="25000"/>
              </a:srgbClr>
            </a:outerShdw>
          </a:effectLst>
        </p:spPr>
      </p:sp>
      <p:pic>
        <p:nvPicPr>
          <p:cNvPr id="41" name="Image 4" descr="/home/claude/deck/ic_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541264"/>
            <a:ext cx="365760" cy="36576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463040" y="539496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reused field is traceable to a JIRA and a logic review — nothing silently inherited.</a:t>
            </a:r>
            <a:endParaRPr lang="en-US" sz="1450" dirty="0"/>
          </a:p>
        </p:txBody>
      </p:sp>
      <p:sp>
        <p:nvSpPr>
          <p:cNvPr id="43" name="Text 3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III  ·  Dedicated Reporting Environment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VALIDATE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carry problems 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47088"/>
            <a:ext cx="658368" cy="65836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/home/claude/deck/ic_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01168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37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before copy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212848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is reviewed before it enters the new environment — debt and defects are candidates for fixing, not cloning.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55448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847088"/>
            <a:ext cx="658368" cy="65836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1" name="Image 1" descr="/home/claude/deck/ic_clip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01168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737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Field-level logic review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69480" y="2212848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logic is validated against the MiFID III rulebook, never assumed correct because it worked before.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127248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419856"/>
            <a:ext cx="658368" cy="65836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6" name="Image 2" descr="/home/claude/deck/ic_sync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5844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3101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Golden-source parity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45920" y="3785616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eligibility-audit &amp; transaction datasets to prove old/new equivalence before any divergence work.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127248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3419856"/>
            <a:ext cx="658368" cy="65836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1" name="Image 3" descr="/home/claude/deck/ic_bu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35844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31012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Known-issue register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69480" y="3785616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problematic element is logged and explicitly decided — carry, fix or drop. Never carried by default.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700016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992624"/>
            <a:ext cx="658368" cy="65836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6" name="Image 4" descr="/home/claude/deck/ic_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5157216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45920" y="48828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gate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645920" y="5358384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environment must reproduce MiFID II outputs for unchanged scenarios before divergence begins.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172200" y="4700016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28232" y="4992624"/>
            <a:ext cx="658368" cy="65836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1" name="Image 5" descr="/home/claude/deck/ic_lo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4" y="5157216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69480" y="488289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Sign-off gate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269480" y="5358384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field goes live without a reviewed JIRA and a validation result attached.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III  ·  Dedicated Reporting Environment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DIVERGENCE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FCA / ESMA divergence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core, regime-specific edges — divergence isolated to the gateway so neither regime destabilises the other.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C8102E"/>
          </a:solidFill>
          <a:ln/>
          <a:effectLst>
            <a:outerShdw sx="100000" sy="100000" kx="0" ky="0" algn="bl" rotWithShape="0" blurRad="114300" dist="50800" dir="5400000">
              <a:srgbClr val="8494B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848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home/claude/deck/ic_layers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20370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CORE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00200" y="233172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common enrichment · eligibility engine · submission framework · audit model — identical for both regimes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539496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971800"/>
            <a:ext cx="5394960" cy="640080"/>
          </a:xfrm>
          <a:prstGeom prst="roundRect">
            <a:avLst>
              <a:gd name="adj" fmla="val 14286"/>
            </a:avLst>
          </a:prstGeom>
          <a:solidFill>
            <a:srgbClr val="8B0E22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3291840"/>
            <a:ext cx="5394960" cy="320040"/>
          </a:xfrm>
          <a:prstGeom prst="rect">
            <a:avLst/>
          </a:prstGeom>
          <a:solidFill>
            <a:srgbClr val="8B0E22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2971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FCA regime — UK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3794760"/>
            <a:ext cx="47548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UK-specific field set &amp; validations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reference data &amp; instrument scope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reporting deadlines &amp; formats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FinFCA gateway overrides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72200" y="2971800"/>
            <a:ext cx="539496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72200" y="2971800"/>
            <a:ext cx="5394960" cy="640080"/>
          </a:xfrm>
          <a:prstGeom prst="roundRect">
            <a:avLst>
              <a:gd name="adj" fmla="val 14286"/>
            </a:avLst>
          </a:prstGeom>
          <a:solidFill>
            <a:srgbClr val="A50E26"/>
          </a:solidFill>
          <a:ln/>
        </p:spPr>
      </p:sp>
      <p:sp>
        <p:nvSpPr>
          <p:cNvPr id="17" name="Shape 14"/>
          <p:cNvSpPr/>
          <p:nvPr/>
        </p:nvSpPr>
        <p:spPr>
          <a:xfrm>
            <a:off x="6172200" y="3291840"/>
            <a:ext cx="5394960" cy="320040"/>
          </a:xfrm>
          <a:prstGeom prst="rect">
            <a:avLst/>
          </a:prstGeom>
          <a:solidFill>
            <a:srgbClr val="A50E26"/>
          </a:solidFill>
          <a:ln/>
        </p:spPr>
      </p:sp>
      <p:sp>
        <p:nvSpPr>
          <p:cNvPr id="18" name="Text 15"/>
          <p:cNvSpPr/>
          <p:nvPr/>
        </p:nvSpPr>
        <p:spPr>
          <a:xfrm>
            <a:off x="6446520" y="2971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ESMA / BaFin regime — EU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537960" y="3794760"/>
            <a:ext cx="47548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MiFIR / ESMA field set &amp; validations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ESMA reference data &amp; instrument scope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reporting deadlines &amp; formats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BaFin / ESMA gateway overrides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III  ·  Dedicated Reporting Environment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9E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713232" y="3703320"/>
            <a:ext cx="3108960" cy="0"/>
          </a:xfrm>
          <a:prstGeom prst="line">
            <a:avLst/>
          </a:prstGeom>
          <a:noFill/>
          <a:ln w="19050">
            <a:solidFill>
              <a:srgbClr val="F6C9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384048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&amp; Governance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76656" y="5029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staged roadmap, explicit risk controls, and a clear decision.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B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III  ·  Dedicated Reporting Environment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B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50" kern="0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84832" cy="3931920"/>
          </a:xfrm>
          <a:prstGeom prst="roundRect">
            <a:avLst>
              <a:gd name="adj" fmla="val 5263"/>
            </a:avLst>
          </a:prstGeom>
          <a:solidFill>
            <a:srgbClr val="B31331"/>
          </a:solidFill>
          <a:ln w="12700">
            <a:solidFill>
              <a:srgbClr val="2E3A6E"/>
            </a:solidFill>
            <a:prstDash val="solid"/>
          </a:ln>
          <a:effectLst>
            <a:outerShdw sx="100000" sy="100000" kx="0" ky="0" algn="bl" rotWithShape="0" blurRad="152400" dist="63500" dir="5400000">
              <a:srgbClr val="05070F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25296" y="213055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deck/ic_server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176" y="231343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6324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4944" y="3410712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 up environment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4233672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proven infra: ingestion, enrichment, gateways, submission, audit.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24328" y="3520440"/>
            <a:ext cx="274320" cy="438912"/>
          </a:xfrm>
          <a:prstGeom prst="chevron">
            <a:avLst/>
          </a:prstGeom>
          <a:solidFill>
            <a:srgbClr val="C8102E"/>
          </a:solidFill>
          <a:ln/>
        </p:spPr>
      </p:sp>
      <p:sp>
        <p:nvSpPr>
          <p:cNvPr id="11" name="Shape 8"/>
          <p:cNvSpPr/>
          <p:nvPr/>
        </p:nvSpPr>
        <p:spPr>
          <a:xfrm>
            <a:off x="2798064" y="1783080"/>
            <a:ext cx="2084832" cy="3931920"/>
          </a:xfrm>
          <a:prstGeom prst="roundRect">
            <a:avLst>
              <a:gd name="adj" fmla="val 5263"/>
            </a:avLst>
          </a:prstGeom>
          <a:solidFill>
            <a:srgbClr val="B31331"/>
          </a:solidFill>
          <a:ln w="12700">
            <a:solidFill>
              <a:srgbClr val="2E3A6E"/>
            </a:solidFill>
            <a:prstDash val="solid"/>
          </a:ln>
          <a:effectLst>
            <a:outerShdw sx="100000" sy="100000" kx="0" ky="0" algn="bl" rotWithShape="0" blurRad="152400" dist="63500" dir="5400000">
              <a:srgbClr val="05070F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213055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/home/claude/deck/ic_jira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31343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9504" y="306324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944368" y="3410712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review via JIRA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980944" y="4233672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JIRA per field. Review, reuse by reference, improve only where needed.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873752" y="3520440"/>
            <a:ext cx="274320" cy="438912"/>
          </a:xfrm>
          <a:prstGeom prst="chevron">
            <a:avLst/>
          </a:prstGeom>
          <a:solidFill>
            <a:srgbClr val="C8102E"/>
          </a:solidFill>
          <a:ln/>
        </p:spPr>
      </p:sp>
      <p:sp>
        <p:nvSpPr>
          <p:cNvPr id="18" name="Shape 14"/>
          <p:cNvSpPr/>
          <p:nvPr/>
        </p:nvSpPr>
        <p:spPr>
          <a:xfrm>
            <a:off x="5047488" y="1783080"/>
            <a:ext cx="2084832" cy="3931920"/>
          </a:xfrm>
          <a:prstGeom prst="roundRect">
            <a:avLst>
              <a:gd name="adj" fmla="val 5263"/>
            </a:avLst>
          </a:prstGeom>
          <a:solidFill>
            <a:srgbClr val="B31331"/>
          </a:solidFill>
          <a:ln w="12700">
            <a:solidFill>
              <a:srgbClr val="2E3A6E"/>
            </a:solidFill>
            <a:prstDash val="solid"/>
          </a:ln>
          <a:effectLst>
            <a:outerShdw sx="100000" sy="100000" kx="0" ky="0" algn="bl" rotWithShape="0" blurRad="152400" dist="63500" dir="5400000">
              <a:srgbClr val="05070F">
                <a:alpha val="4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24144" y="213055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/home/claude/deck/ic_check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231343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38928" y="306324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193792" y="3410712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parity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230368" y="4233672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against MiFID II golden data. Screen out known issues.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123176" y="3520440"/>
            <a:ext cx="274320" cy="438912"/>
          </a:xfrm>
          <a:prstGeom prst="chevron">
            <a:avLst/>
          </a:prstGeom>
          <a:solidFill>
            <a:srgbClr val="C8102E"/>
          </a:solidFill>
          <a:ln/>
        </p:spPr>
      </p:sp>
      <p:sp>
        <p:nvSpPr>
          <p:cNvPr id="25" name="Shape 20"/>
          <p:cNvSpPr/>
          <p:nvPr/>
        </p:nvSpPr>
        <p:spPr>
          <a:xfrm>
            <a:off x="7296912" y="1783080"/>
            <a:ext cx="2084832" cy="3931920"/>
          </a:xfrm>
          <a:prstGeom prst="roundRect">
            <a:avLst>
              <a:gd name="adj" fmla="val 5263"/>
            </a:avLst>
          </a:prstGeom>
          <a:solidFill>
            <a:srgbClr val="B31331"/>
          </a:solidFill>
          <a:ln w="12700">
            <a:solidFill>
              <a:srgbClr val="2E3A6E"/>
            </a:solidFill>
            <a:prstDash val="solid"/>
          </a:ln>
          <a:effectLst>
            <a:outerShdw sx="100000" sy="100000" kx="0" ky="0" algn="bl" rotWithShape="0" blurRad="152400" dist="63500" dir="5400000">
              <a:srgbClr val="05070F">
                <a:alpha val="4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973568" y="213055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/home/claude/deck/ic_filter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6448" y="2313432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88352" y="306324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443216" y="3410712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divergence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479792" y="4233672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FCA vs ESMA regime rules at the gateway layer only.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9372600" y="3520440"/>
            <a:ext cx="274320" cy="438912"/>
          </a:xfrm>
          <a:prstGeom prst="chevron">
            <a:avLst/>
          </a:prstGeom>
          <a:solidFill>
            <a:srgbClr val="C8102E"/>
          </a:solidFill>
          <a:ln/>
        </p:spPr>
      </p:sp>
      <p:sp>
        <p:nvSpPr>
          <p:cNvPr id="32" name="Shape 26"/>
          <p:cNvSpPr/>
          <p:nvPr/>
        </p:nvSpPr>
        <p:spPr>
          <a:xfrm>
            <a:off x="9546336" y="1783080"/>
            <a:ext cx="2084832" cy="3931920"/>
          </a:xfrm>
          <a:prstGeom prst="roundRect">
            <a:avLst>
              <a:gd name="adj" fmla="val 5263"/>
            </a:avLst>
          </a:prstGeom>
          <a:solidFill>
            <a:srgbClr val="B31331"/>
          </a:solidFill>
          <a:ln w="12700">
            <a:solidFill>
              <a:srgbClr val="2E3A6E"/>
            </a:solidFill>
            <a:prstDash val="solid"/>
          </a:ln>
          <a:effectLst>
            <a:outerShdw sx="100000" sy="100000" kx="0" ky="0" algn="bl" rotWithShape="0" blurRad="152400" dist="63500" dir="5400000">
              <a:srgbClr val="05070F">
                <a:alpha val="4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222992" y="213055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4" descr="/home/claude/deck/ic_rocket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5872" y="2313432"/>
            <a:ext cx="365760" cy="3657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37776" y="306324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9692640" y="3410712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Cutover &amp; sign-off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9729216" y="4233672"/>
            <a:ext cx="17190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JIRA + validation per field. Controlled go-live.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B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III  ·  Dedicated Reporting Environment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B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&amp; how we control them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73936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6" name="Image 0" descr="/home/claude/deck/ic_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110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00784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reuse of flawed logic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0" y="1700784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— even unchanged — gets a JIRA and a logic review before reuse.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0287000" y="1865376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/>
        </p:spPr>
      </p:sp>
      <p:sp>
        <p:nvSpPr>
          <p:cNvPr id="10" name="Text 7"/>
          <p:cNvSpPr/>
          <p:nvPr/>
        </p:nvSpPr>
        <p:spPr>
          <a:xfrm>
            <a:off x="10287000" y="18653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670048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2871216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13" name="Image 1" descr="/home/claude/deck/ic_gea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00837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798064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Cross-regime regression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943600" y="2798064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environment; divergence isolated to the gateway layer only.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10287000" y="2962656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/>
        </p:spPr>
      </p:sp>
      <p:sp>
        <p:nvSpPr>
          <p:cNvPr id="17" name="Text 13"/>
          <p:cNvSpPr/>
          <p:nvPr/>
        </p:nvSpPr>
        <p:spPr>
          <a:xfrm>
            <a:off x="10287000" y="296265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3767328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3968496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0" name="Image 2" descr="/home/claude/deck/ic_gave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105656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3895344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&amp; traceability gaps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943600" y="3895344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field-to-JIRA traceability with validation results attached at sign-off.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10287000" y="4059936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/>
        </p:spPr>
      </p:sp>
      <p:sp>
        <p:nvSpPr>
          <p:cNvPr id="24" name="Text 19"/>
          <p:cNvSpPr/>
          <p:nvPr/>
        </p:nvSpPr>
        <p:spPr>
          <a:xfrm>
            <a:off x="10287000" y="405993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4864608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AD9DC"/>
            </a:solidFill>
            <a:prstDash val="solid"/>
          </a:ln>
          <a:effectLst>
            <a:outerShdw sx="100000" sy="100000" kx="0" ky="0" algn="bl" rotWithShape="0" blurRad="114300" dist="50800" dir="5400000">
              <a:srgbClr val="8494BE">
                <a:alpha val="2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22960" y="5065776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7" name="Image 3" descr="/home/claude/deck/ic_bu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202936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4480" y="4992624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Carrying over known defects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5943600" y="4992624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45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Known-issue register — every problem explicitly carried, fixed or dropped.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10287000" y="5157216"/>
            <a:ext cx="1097280" cy="384048"/>
          </a:xfrm>
          <a:prstGeom prst="roundRect">
            <a:avLst>
              <a:gd name="adj" fmla="val 47619"/>
            </a:avLst>
          </a:prstGeom>
          <a:solidFill>
            <a:srgbClr val="2F7D4F"/>
          </a:solidFill>
          <a:ln/>
        </p:spPr>
      </p:sp>
      <p:sp>
        <p:nvSpPr>
          <p:cNvPr id="31" name="Text 25"/>
          <p:cNvSpPr/>
          <p:nvPr/>
        </p:nvSpPr>
        <p:spPr>
          <a:xfrm>
            <a:off x="10287000" y="515721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III  ·  Dedicated Reporting Environment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THE DECISION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for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C8102E"/>
          </a:solidFill>
          <a:ln/>
          <a:effectLst>
            <a:outerShdw sx="100000" sy="100000" kx="0" ky="0" algn="bl" rotWithShape="0" blurRad="114300" dist="50800" dir="5400000">
              <a:srgbClr val="8494B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0992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deck/ic_bullseye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82880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481328"/>
            <a:ext cx="9784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to proceed  </a:t>
            </a:r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dedicated MiFID III environment on a reuse-first basis, and endorsement of the field-level JIRA + review governance.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6424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2743200"/>
                <a:gridCol w="3383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next step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E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E2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component copy-list from MiFID 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0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45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Agreed reuse inventory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 up dedicated MiFID III environment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0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/ DevOps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45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Running skeleton environment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JIRAs for all in-scope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0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+ Tech leads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45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incl. unchanged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FCA vs ESMA divergence matrix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0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SME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45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regime-specific rule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 validation &amp; sign-off gate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0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45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Parity criteria per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III  ·  Dedicated Reporting Environment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058400" y="645566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4300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430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 IN ONE 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265176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the proven MiFID II platform, put every field — even unchanged ones — through a JIRA and a logic review, reuse what works, and isolate FCA / ESMA divergence at the gateway.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76656" y="4892040"/>
            <a:ext cx="3108960" cy="0"/>
          </a:xfrm>
          <a:prstGeom prst="line">
            <a:avLst/>
          </a:prstGeom>
          <a:noFill/>
          <a:ln w="19050">
            <a:solidFill>
              <a:srgbClr val="F6C9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5074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6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reuse   ·   Traceable decisions   ·   Isolated divergence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5806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B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sign-off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2026-08-24T08:17:12Z</dcterms:created>
  <dcterms:modified xsi:type="dcterms:W3CDTF">2026-08-24T08:17:12Z</dcterms:modified>
</cp:coreProperties>
</file>